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EB8A4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7EB8A4"/>
                </a:solidFill>
                <a:latin typeface="Arial"/>
              </a:rPr>
              <a:t>UCB Bandit vs Random (5-seed, 200 rounds each)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UCB Bandit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  <c:pt idx="5">
                  <c:v>125</c:v>
                </c:pt>
                <c:pt idx="6">
                  <c:v>150</c:v>
                </c:pt>
                <c:pt idx="7">
                  <c:v>175</c:v>
                </c:pt>
                <c:pt idx="8">
                  <c:v>200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0.52</c:v>
                </c:pt>
                <c:pt idx="1">
                  <c:v>0.54500000000000004</c:v>
                </c:pt>
                <c:pt idx="2">
                  <c:v>0.55800000000000005</c:v>
                </c:pt>
                <c:pt idx="3">
                  <c:v>0.56599999999999995</c:v>
                </c:pt>
                <c:pt idx="4">
                  <c:v>0.57199999999999995</c:v>
                </c:pt>
                <c:pt idx="5">
                  <c:v>0.57599999999999996</c:v>
                </c:pt>
                <c:pt idx="6">
                  <c:v>0.57899999999999996</c:v>
                </c:pt>
                <c:pt idx="7">
                  <c:v>0.58099999999999996</c:v>
                </c:pt>
                <c:pt idx="8">
                  <c:v>0.58199999999999996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DF8-E640-A86D-7B12A617B1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Baseline</c:v>
                </c:pt>
              </c:strCache>
            </c:strRef>
          </c:tx>
          <c:spPr>
            <a:ln w="31750" cap="flat">
              <a:solidFill>
                <a:srgbClr val="3A5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A5A4A"/>
              </a:solidFill>
              <a:ln w="9525" cap="flat">
                <a:solidFill>
                  <a:srgbClr val="3A5A4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  <c:pt idx="5">
                  <c:v>125</c:v>
                </c:pt>
                <c:pt idx="6">
                  <c:v>150</c:v>
                </c:pt>
                <c:pt idx="7">
                  <c:v>175</c:v>
                </c:pt>
                <c:pt idx="8">
                  <c:v>200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0.55800000000000005</c:v>
                </c:pt>
                <c:pt idx="1">
                  <c:v>0.55900000000000005</c:v>
                </c:pt>
                <c:pt idx="2">
                  <c:v>0.55900000000000005</c:v>
                </c:pt>
                <c:pt idx="3">
                  <c:v>0.56000000000000005</c:v>
                </c:pt>
                <c:pt idx="4">
                  <c:v>0.56000000000000005</c:v>
                </c:pt>
                <c:pt idx="5">
                  <c:v>0.56000000000000005</c:v>
                </c:pt>
                <c:pt idx="6">
                  <c:v>0.56000000000000005</c:v>
                </c:pt>
                <c:pt idx="7">
                  <c:v>0.56000000000000005</c:v>
                </c:pt>
                <c:pt idx="8">
                  <c:v>0.56000000000000005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DF8-E640-A86D-7B12A617B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7EB8A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4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913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410"/>
          </a:solidFill>
          <a:ln w="12700">
            <a:solidFill>
              <a:srgbClr val="0A141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D9E75"/>
                </a:solidFill>
              </a:rPr>
              <a:t>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CLIS V2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Literature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2560320" cy="27432"/>
          </a:xfrm>
          <a:prstGeom prst="rect">
            <a:avLst/>
          </a:prstGeom>
          <a:solidFill>
            <a:srgbClr val="3A5A4A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B8A4"/>
                </a:solidFill>
              </a:rPr>
              <a:t>Hritik Hassani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4A"/>
                </a:solidFill>
              </a:rPr>
              <a:t>Northeastern University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4A"/>
                </a:solidFill>
              </a:rPr>
              <a:t>INFO 7375 · Spring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7315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clinical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with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14630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3749040" y="283464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A1410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0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E1CB"/>
                </a:solidFill>
              </a:rPr>
              <a:t>UCB Bandit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32120" y="283464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A1410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32120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E1CB"/>
                </a:solidFill>
              </a:rPr>
              <a:t>REINFORCE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283464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A1410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0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E1CB"/>
                </a:solidFill>
              </a:rPr>
              <a:t>PubMed RAG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3310128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A1410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0" y="3310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E1CB"/>
                </a:solidFill>
              </a:rPr>
              <a:t>GRADE Evidence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32120" y="3310128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A1410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32120" y="3310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E1CB"/>
                </a:solidFill>
              </a:rPr>
              <a:t>Citation Grounding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0" y="3310128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A1410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0" y="3310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E1CB"/>
                </a:solidFill>
              </a:rPr>
              <a:t>RLHF · $0 cost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600" dirty="0">
                <a:solidFill>
                  <a:srgbClr val="1D9E75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Physicians can't search 35 million PubMed articles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9260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PubMed articles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by 4,000 new papers every day. No physician can read them all.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51760" cy="29260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5176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2900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LLM hallucination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fabricate citations. Doctors need verified, sourced evidence.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51760" cy="29260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5176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hrs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Per literature 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evidence synthesis is slow, inconsistent, and not scalable at point of care.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600" dirty="0">
                <a:solidFill>
                  <a:srgbClr val="1D9E75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CLIS V2 — Three AI techniques, one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29184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" cy="3291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D9E75"/>
                </a:solidFill>
              </a:rPr>
              <a:t>RAG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 (RAG)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Live PubMed NCBI API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127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No simulated articles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5570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47 ICD-10-CM sections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9867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Citation grounded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51760" cy="3291840"/>
          </a:xfrm>
          <a:prstGeom prst="rect">
            <a:avLst/>
          </a:prstGeom>
          <a:solidFill>
            <a:srgbClr val="0A5C4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54864" cy="3291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D9E75"/>
                </a:solidFill>
              </a:rPr>
              <a:t>RL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(RL)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E1CB"/>
                </a:solidFill>
              </a:rPr>
              <a:t>→  UCB Contextual Bandit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3127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E1CB"/>
                </a:solidFill>
              </a:rPr>
              <a:t>→  REINFORCE Policy Gradient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35570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E1CB"/>
                </a:solidFill>
              </a:rPr>
              <a:t>→  RLHF feedback loop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39867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E1CB"/>
                </a:solidFill>
              </a:rPr>
              <a:t>→  Persistent SQLite state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417320"/>
            <a:ext cx="2651760" cy="329184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54864" cy="3291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D9E75"/>
                </a:solidFill>
              </a:rPr>
              <a:t>LLM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19202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Language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(LLM)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Groq · Llama 3.3 70B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2200" y="3127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GRADE methodology grading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35570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Contradiction detection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39867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Rule-based fallback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600" dirty="0">
                <a:solidFill>
                  <a:srgbClr val="1D9E75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Six-stage production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298448" cy="20116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93192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1D9E75"/>
                </a:solidFill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93192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22860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4 clinical contexts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rule-based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2331720"/>
            <a:ext cx="91440" cy="54864"/>
          </a:xfrm>
          <a:prstGeom prst="rect">
            <a:avLst/>
          </a:prstGeom>
          <a:solidFill>
            <a:srgbClr val="3A5A4A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46504" y="1371600"/>
            <a:ext cx="1298448" cy="2011680"/>
          </a:xfrm>
          <a:prstGeom prst="rect">
            <a:avLst/>
          </a:prstGeom>
          <a:solidFill>
            <a:srgbClr val="0A5C4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19656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1D9E75"/>
                </a:solidFill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19656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UCB Bandit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9656" y="22860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5 query arms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SQLite persist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54096" y="2331720"/>
            <a:ext cx="91440" cy="54864"/>
          </a:xfrm>
          <a:prstGeom prst="rect">
            <a:avLst/>
          </a:prstGeom>
          <a:solidFill>
            <a:srgbClr val="3A5A4A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1371600"/>
            <a:ext cx="1298448" cy="20116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1D9E75"/>
                </a:solidFill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4612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PubMed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2860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NCBI E-utils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real articles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2331720"/>
            <a:ext cx="91440" cy="54864"/>
          </a:xfrm>
          <a:prstGeom prst="rect">
            <a:avLst/>
          </a:prstGeom>
          <a:solidFill>
            <a:srgbClr val="3A5A4A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99432" y="1371600"/>
            <a:ext cx="1298448" cy="20116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72584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1D9E75"/>
                </a:solidFill>
              </a:rPr>
              <a:t>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72584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72584" y="22860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Groq LLM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4 levels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07024" y="2331720"/>
            <a:ext cx="91440" cy="54864"/>
          </a:xfrm>
          <a:prstGeom prst="rect">
            <a:avLst/>
          </a:prstGeom>
          <a:solidFill>
            <a:srgbClr val="3A5A4A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25896" y="1371600"/>
            <a:ext cx="1298448" cy="2011680"/>
          </a:xfrm>
          <a:prstGeom prst="rect">
            <a:avLst/>
          </a:prstGeom>
          <a:solidFill>
            <a:srgbClr val="0A5C4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99048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1D9E75"/>
                </a:solidFill>
              </a:rPr>
              <a:t>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99048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9048" y="22860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Policy gradient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3-layer MLP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33488" y="2331720"/>
            <a:ext cx="91440" cy="54864"/>
          </a:xfrm>
          <a:prstGeom prst="rect">
            <a:avLst/>
          </a:prstGeom>
          <a:solidFill>
            <a:srgbClr val="3A5A4A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52360" y="1371600"/>
            <a:ext cx="1298448" cy="20116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25512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1D9E75"/>
                </a:solidFill>
              </a:rPr>
              <a:t>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525512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25512" y="22860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Jaccard overlap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flags hallucination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657600"/>
            <a:ext cx="8503920" cy="36576"/>
          </a:xfrm>
          <a:prstGeom prst="rect">
            <a:avLst/>
          </a:prstGeom>
          <a:solidFill>
            <a:srgbClr val="3A5A4A"/>
          </a:solidFill>
          <a:ln w="12700">
            <a:solidFill>
              <a:srgbClr val="3A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040" y="37490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4A"/>
                </a:solidFill>
              </a:rPr>
              <a:t>RLHF feedback loop — physician ratings (👍 / 👎) update bandit reward estimates · persists via SQLite across sessions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600" dirty="0">
                <a:solidFill>
                  <a:srgbClr val="1D9E75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Statistically validated RL performance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3444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34440"/>
            <a:ext cx="2834640" cy="74980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0" y="1234440"/>
            <a:ext cx="45720" cy="7498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80760" y="1261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+4.01%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80760" y="15727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AF5"/>
                </a:solidFill>
              </a:rPr>
              <a:t>Improvement over random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176479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A4A"/>
                </a:solidFill>
              </a:rPr>
              <a:t>p = 0.0048 · Welch t-test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43600" y="2057400"/>
            <a:ext cx="2834640" cy="74980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2057400"/>
            <a:ext cx="45720" cy="7498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80760" y="2084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2.735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80760" y="23957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AF5"/>
                </a:solidFill>
              </a:rPr>
              <a:t>Cohen's d effect size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80760" y="258775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A4A"/>
                </a:solidFill>
              </a:rPr>
              <a:t>Large effect · all 5 seeds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43600" y="2880360"/>
            <a:ext cx="2834640" cy="74980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43600" y="2880360"/>
            <a:ext cx="45720" cy="7498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80760" y="2907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80760" y="32186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AF5"/>
                </a:solidFill>
              </a:rPr>
              <a:t>Arm ID accuracy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80760" y="341071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A4A"/>
                </a:solidFill>
              </a:rPr>
              <a:t>All 4 contexts · all seeds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43600" y="3703320"/>
            <a:ext cx="2834640" cy="74980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0" y="3703320"/>
            <a:ext cx="45720" cy="7498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80760" y="3730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72.6%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080760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AF5"/>
                </a:solidFill>
              </a:rPr>
              <a:t>REINFORCE loss reduction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80760" y="423367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A4A"/>
                </a:solidFill>
              </a:rPr>
              <a:t>±5.7% · 300 episodes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600" dirty="0">
                <a:solidFill>
                  <a:srgbClr val="1D9E75"/>
                </a:solidFill>
              </a:rPr>
              <a:t>SAFETY &amp; EVALUATION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evidence hierarchy + 10/10 benchmark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1828800" cy="749808"/>
          </a:xfrm>
          <a:prstGeom prst="rect">
            <a:avLst/>
          </a:prstGeom>
          <a:solidFill>
            <a:srgbClr val="0A5C45"/>
          </a:solidFill>
          <a:ln w="12700">
            <a:solidFill>
              <a:srgbClr val="0A5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3040" y="140817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AF5"/>
                </a:solidFill>
              </a:rPr>
              <a:t>Grade A — HIGH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C8B8"/>
                </a:solidFill>
              </a:rPr>
              <a:t>Systematic review / RCT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05840" y="2194560"/>
            <a:ext cx="2560320" cy="7498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23113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AF5"/>
                </a:solidFill>
              </a:rPr>
              <a:t>Grade B — MODERATE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C8B8"/>
                </a:solidFill>
              </a:rPr>
              <a:t>Cohort study · Single RCT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3291840" cy="749808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05409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AF5"/>
                </a:solidFill>
              </a:rPr>
              <a:t>Grade C — LOW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C8B8"/>
                </a:solidFill>
              </a:rPr>
              <a:t>Case-control · Observational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4023360" cy="749808"/>
          </a:xfrm>
          <a:prstGeom prst="rect">
            <a:avLst/>
          </a:prstGeom>
          <a:solidFill>
            <a:srgbClr val="712B13"/>
          </a:solidFill>
          <a:ln w="12700">
            <a:solidFill>
              <a:srgbClr val="712B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87705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AF5"/>
                </a:solidFill>
              </a:rPr>
              <a:t>Grade D — VERY 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2062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C8B8"/>
                </a:solidFill>
              </a:rPr>
              <a:t>Expert opinion · Case report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325880"/>
            <a:ext cx="2103120" cy="6583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3898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0" y="1389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16550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A4"/>
                </a:solidFill>
              </a:rPr>
              <a:t>Simple treatment query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075688"/>
            <a:ext cx="2103120" cy="6583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13969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21396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A4"/>
                </a:solidFill>
              </a:rPr>
              <a:t>Conflicting evidence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2825496"/>
            <a:ext cx="2103120" cy="6583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88950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0" y="288950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3440" y="3154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A4"/>
                </a:solidFill>
              </a:rPr>
              <a:t>Evidence limitation (CKD)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3575304"/>
            <a:ext cx="2103120" cy="6583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36393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0" y="36393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3440" y="39044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A4"/>
                </a:solidFill>
              </a:rPr>
              <a:t>Guideline recency (Aspirin)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4325112"/>
            <a:ext cx="2103120" cy="658368"/>
          </a:xfrm>
          <a:prstGeom prst="rect">
            <a:avLst/>
          </a:prstGeom>
          <a:solidFill>
            <a:srgbClr val="0A1410"/>
          </a:solidFill>
          <a:ln w="12700">
            <a:solidFill>
              <a:srgbClr val="712B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43891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0" y="43891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4654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A4"/>
                </a:solidFill>
              </a:rPr>
              <a:t>Drug interaction ⚑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12280" y="1325880"/>
            <a:ext cx="2103120" cy="658368"/>
          </a:xfrm>
          <a:prstGeom prst="rect">
            <a:avLst/>
          </a:prstGeom>
          <a:solidFill>
            <a:srgbClr val="0A1410"/>
          </a:solidFill>
          <a:ln w="12700">
            <a:solidFill>
              <a:srgbClr val="712B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03720" y="13898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83880" y="1389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03720" y="16550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A4"/>
                </a:solidFill>
              </a:rPr>
              <a:t>Pediatric population ⚑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12280" y="2075688"/>
            <a:ext cx="2103120" cy="6583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03720" y="213969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TC07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83880" y="21396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A4"/>
                </a:solidFill>
              </a:rPr>
              <a:t>Rare disease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12280" y="2825496"/>
            <a:ext cx="2103120" cy="6583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903720" y="288950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TC08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83880" y="288950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03720" y="3154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A4"/>
                </a:solidFill>
              </a:rPr>
              <a:t>ICD-10 coding (E11.22)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12280" y="3575304"/>
            <a:ext cx="2103120" cy="6583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03720" y="36393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TC09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183880" y="36393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03720" y="39044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A4"/>
                </a:solidFill>
              </a:rPr>
              <a:t>Emerging evidence (GLP-1)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12280" y="4325112"/>
            <a:ext cx="2103120" cy="658368"/>
          </a:xfrm>
          <a:prstGeom prst="rect">
            <a:avLst/>
          </a:prstGeom>
          <a:solidFill>
            <a:srgbClr val="0A5C4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03720" y="43891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</a:rPr>
              <a:t>TC10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183880" y="43891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E1CB"/>
                </a:solidFill>
              </a:rPr>
              <a:t>✓ PASS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03720" y="46542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E1CB"/>
                </a:solidFill>
              </a:rPr>
              <a:t>Hallucination trap ★ ⚑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600" dirty="0">
                <a:solidFill>
                  <a:srgbClr val="1D9E75"/>
                </a:solidFill>
              </a:rPr>
              <a:t>FEATURES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tabs · Eight tools · $0 total cost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600200" cy="3383280"/>
          </a:xfrm>
          <a:prstGeom prst="rect">
            <a:avLst/>
          </a:prstGeom>
          <a:solidFill>
            <a:srgbClr val="0A5C4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417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D9E75"/>
                </a:solidFill>
              </a:rPr>
              <a:t>Tab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22128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E1CB"/>
                </a:solidFill>
              </a:rPr>
              <a:t>· PICO builder / free 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25968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E1CB"/>
                </a:solidFill>
              </a:rPr>
              <a:t>· 6-stage RL pipeline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29809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E1CB"/>
                </a:solidFill>
              </a:rPr>
              <a:t>· Citation grounding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E1CB"/>
                </a:solidFill>
              </a:rPr>
              <a:t>· RLHF 👍👎 feedback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E1CB"/>
                </a:solidFill>
              </a:rPr>
              <a:t>· Contradiction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E1CB"/>
                </a:solidFill>
              </a:rPr>
              <a:t>· Download clinical report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1325880"/>
            <a:ext cx="1600200" cy="33832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84832" y="1417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D9E75"/>
                </a:solidFill>
              </a:rPr>
              <a:t>Tab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84832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ICD-10 Coding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84832" y="22128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TF-IDF RAG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84832" y="25968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47 CMS sections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84832" y="29809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Groq synthesis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84832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SQLite cache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84832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Sequencing rules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84832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Faithfulness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1325880"/>
            <a:ext cx="1600200" cy="33832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22192" y="1417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D9E75"/>
                </a:solidFill>
              </a:rPr>
              <a:t>Tab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22192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22192" y="22128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Treatment A vs 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22192" y="25968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NNT / NNH extractor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22192" y="29809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Structured extraction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22192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Knowledge graph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22192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JSON download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22192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Plotly network viz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1325880"/>
            <a:ext cx="1600200" cy="33832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59552" y="1417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D9E75"/>
                </a:solidFill>
              </a:rPr>
              <a:t>Tab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59552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59552" y="22128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10 benchmark tests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59552" y="25968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3 critical tests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59552" y="29809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Hallucination trap TC10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59552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Latency tracking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59552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JSON export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59552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Category breakdown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1325880"/>
            <a:ext cx="1600200" cy="338328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96912" y="1417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D9E75"/>
                </a:solidFill>
              </a:rPr>
              <a:t>Tab 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96912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96912" y="22128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Bandit learning curve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96912" y="25968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RLHF feedback stats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96912" y="29809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Arm reward matrix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96912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Per-context view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96912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Reset to priors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96912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</a:rPr>
              <a:t>· Session tracking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600" dirty="0">
                <a:solidFill>
                  <a:srgbClr val="1D9E75"/>
                </a:solidFill>
              </a:rPr>
              <a:t>ETHICS &amp; SAFETY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is engineering, not an afterthought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24912" cy="15727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24912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Hallucination prevention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grounding maps every LLM sentence to a source passage. TC10 verifies the system refuses to fabricate the CARDIAC-PREVENT trial.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724912" cy="15727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24912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435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Real evidence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81051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simulated articles ever shown. If PubMed returns zero results, CLIS V2 shows an error — never fabricated citations or placeholder data.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724912" cy="15727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724912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435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Evidence transparency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81051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levels always visible. Grade A (RCT/meta-analysis) is visually distinct from Grade D (expert opinion). The pyramid is never flattened.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724912" cy="15727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724912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127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RL interpretability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0215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Analytics tab shows exactly which arm the bandit selected, current reward estimates, and how RLHF feedback shifted the policy over time.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724912" cy="15727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724912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3127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Data privacy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50215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data is stored. Queries are session-scoped. Only anonymised query text and bandit reward signals persist to SQLite.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3017520"/>
            <a:ext cx="2724912" cy="1572768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0760" y="3017520"/>
            <a:ext cx="2724912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3127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Decision support only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50215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interface element explicitly labels CLIS V2 as decision support, not autonomous prescribing. Physician review required at all times.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600" dirty="0">
                <a:solidFill>
                  <a:srgbClr val="1D9E75"/>
                </a:solidFill>
              </a:rPr>
              <a:t>TECHNOLOGY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entirely for $0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029968" cy="141732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1408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1D9E75"/>
                </a:solidFill>
              </a:rPr>
              <a:t>LLM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912" y="1664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Groq · Llama 3.3 70B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&lt;1s latency · rule-based fallback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96312" y="1325880"/>
            <a:ext cx="2029968" cy="141732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15184" y="1408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1D9E75"/>
                </a:solidFill>
              </a:rPr>
              <a:t>Literature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615184" y="1664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PubMed NCBI E-utils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5184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10 req/sec with API key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1325880"/>
            <a:ext cx="2029968" cy="141732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91456" y="1408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1D9E75"/>
                </a:solidFill>
              </a:rPr>
              <a:t>RL Framework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91456" y="1664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PyTorch (CPU)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UCB + REINFORCE implementation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1325880"/>
            <a:ext cx="2029968" cy="141732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67728" y="1408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1D9E75"/>
                </a:solidFill>
              </a:rPr>
              <a:t>Vector Store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67728" y="1664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TF-IDF + SQLite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67728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deps · Python stdlib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2029968" cy="141732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2962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1D9E75"/>
                </a:solidFill>
              </a:rPr>
              <a:t>ICD-10 Data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8912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CMS FY2024 Official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guideline sections · government source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96312" y="2880360"/>
            <a:ext cx="2029968" cy="141732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15184" y="2962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1D9E75"/>
                </a:solidFill>
              </a:rPr>
              <a:t>UI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615184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Streamlit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15184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Python-native · light theme · 5 tabs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72584" y="2880360"/>
            <a:ext cx="2029968" cy="141732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91456" y="2962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1D9E75"/>
                </a:solidFill>
              </a:rPr>
              <a:t>Persistence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91456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SQLite (stdlib)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91456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· ICD cache · struct cache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48856" y="2880360"/>
            <a:ext cx="2029968" cy="1417320"/>
          </a:xfrm>
          <a:prstGeom prst="rect">
            <a:avLst/>
          </a:prstGeom>
          <a:solidFill>
            <a:srgbClr val="0A1410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67728" y="2962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1D9E75"/>
                </a:solidFill>
              </a:rPr>
              <a:t>Visualisation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967728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AF5"/>
                </a:solidFill>
              </a:rPr>
              <a:t>Plotly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67728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· learning curve charts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5C45"/>
          </a:solidFill>
          <a:ln w="12700">
            <a:solidFill>
              <a:srgbClr val="0A5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CLIS V2 — Clinical Literature Intelligence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What was built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6-stage AI pipeline: UCB Bandit → PubMed → GRADE → REINFORCE → Groq → Citation Grounding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10/10 benchmark tests passing, including the CARDIAC-PREVENT hallucination trap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6791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47-section ICD-10-CM RAG + 4 Advanced Analysis tools (Treatment Comparison, NNT, Structured Extraction, Knowledge Graph)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RLHF feedback loop with persistent SQLite bandit — the system improves with every query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7530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Statistically validated: +4.01% UCB improvement (p=0.0048, Cohen's d=2.735), 72.6% REINFORCE loss reduction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B8A4"/>
                </a:solidFill>
              </a:rPr>
              <a:t>→  Built at $0 total cost using Groq free tier, NCBI API, PyTorch CPU, and Python stdlib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A1410"/>
          </a:solidFill>
          <a:ln w="12700">
            <a:solidFill>
              <a:srgbClr val="0A14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4A"/>
                </a:solidFill>
              </a:rPr>
              <a:t>Hritik Hassani·  Northeastern University  ·  INFO 7375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Macintosh PowerPoint</Application>
  <PresentationFormat>On-screen Show (16:9)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CLIS V2 — Clinical Literature Intelligence System</dc:title>
  <dc:subject>PptxGenJS Presentation</dc:subject>
  <dc:creator>Hritik Ram</dc:creator>
  <cp:lastModifiedBy>Hritik Ram Hassani</cp:lastModifiedBy>
  <cp:revision>2</cp:revision>
  <dcterms:created xsi:type="dcterms:W3CDTF">2026-04-24T23:05:18Z</dcterms:created>
  <dcterms:modified xsi:type="dcterms:W3CDTF">2026-04-24T23:08:24Z</dcterms:modified>
</cp:coreProperties>
</file>